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777240"/>
            <a:ext cx="603504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1430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242D42"/>
                </a:solidFill>
                <a:latin typeface="PingFang SC"/>
              </a:rPr>
              <a:t>百度网盘互动营销玩法
落地方案</a:t>
            </a:r>
          </a:p>
          <a:p>
            <a:r>
              <a:rPr sz="1600" b="0">
                <a:solidFill>
                  <a:srgbClr val="1F64D8"/>
                </a:solidFill>
                <a:latin typeface="PingFang SC"/>
              </a:rPr>
              <a:t>拼图玩法 × 网盘权益 × 穿山甲商城广告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3337560"/>
            <a:ext cx="1554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0120" y="3337560"/>
            <a:ext cx="73152" cy="777240"/>
          </a:xfrm>
          <a:prstGeom prst="rect">
            <a:avLst/>
          </a:prstGeom>
          <a:solidFill>
            <a:srgbClr val="1F6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474720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64D8"/>
                </a:solidFill>
                <a:latin typeface="PingFang SC"/>
              </a:rPr>
              <a:t>20万+/日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242D42"/>
                </a:solidFill>
                <a:latin typeface="PingFang SC"/>
              </a:rPr>
              <a:t>活动页访问UV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80" y="3337560"/>
            <a:ext cx="1554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97480" y="3337560"/>
            <a:ext cx="73152" cy="777240"/>
          </a:xfrm>
          <a:prstGeom prst="rect">
            <a:avLst/>
          </a:prstGeom>
          <a:solidFill>
            <a:srgbClr val="FF8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3474720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8B2E"/>
                </a:solidFill>
                <a:latin typeface="PingFang SC"/>
              </a:rPr>
              <a:t>5–8次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242D42"/>
                </a:solidFill>
                <a:latin typeface="PingFang SC"/>
              </a:rPr>
              <a:t>人均广告次数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3337560"/>
            <a:ext cx="1554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3337560"/>
            <a:ext cx="73152" cy="777240"/>
          </a:xfrm>
          <a:prstGeom prst="rect">
            <a:avLst/>
          </a:prstGeom>
          <a:solidFill>
            <a:srgbClr val="00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3474720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A078"/>
                </a:solidFill>
                <a:latin typeface="PingFang SC"/>
              </a:rPr>
              <a:t>eCPM 80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242D42"/>
                </a:solidFill>
                <a:latin typeface="PingFang SC"/>
              </a:rPr>
              <a:t>广告测算均值</a:t>
            </a:r>
          </a:p>
        </p:txBody>
      </p:sp>
      <p:pic>
        <p:nvPicPr>
          <p:cNvPr id="14" name="Picture 13" descr="reference_structure_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502920"/>
            <a:ext cx="3215286" cy="57607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PingFang S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42D42"/>
                </a:solidFill>
                <a:latin typeface="PingFang SC"/>
              </a:rP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667085"/>
                </a:solidFill>
                <a:latin typeface="PingFang SC"/>
              </a:rPr>
              <a:t>从玩法、奖励、收入成本到开发接入形成完整决策链路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18288"/>
          </a:xfrm>
          <a:prstGeom prst="rect">
            <a:avLst/>
          </a:prstGeom>
          <a:solidFill>
            <a:srgbClr val="1F6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508760"/>
            <a:ext cx="29718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1508760"/>
            <a:ext cx="73152" cy="1097280"/>
          </a:xfrm>
          <a:prstGeom prst="rect">
            <a:avLst/>
          </a:prstGeom>
          <a:solidFill>
            <a:srgbClr val="1F6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645919"/>
            <a:ext cx="2651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64D8"/>
                </a:solidFill>
                <a:latin typeface="PingFang SC"/>
              </a:rPr>
              <a:t>01 玩法选型分析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242D42"/>
                </a:solidFill>
                <a:latin typeface="PingFang SC"/>
              </a:rPr>
              <a:t>拼图闯关为主，答题/找方块为辅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508760"/>
            <a:ext cx="29718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1508760"/>
            <a:ext cx="73152" cy="1097280"/>
          </a:xfrm>
          <a:prstGeom prst="rect">
            <a:avLst/>
          </a:prstGeom>
          <a:solidFill>
            <a:srgbClr val="FF8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645919"/>
            <a:ext cx="2651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8B2E"/>
                </a:solidFill>
                <a:latin typeface="PingFang SC"/>
              </a:rPr>
              <a:t>02 游戏奖励设计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242D42"/>
                </a:solidFill>
                <a:latin typeface="PingFang SC"/>
              </a:rPr>
              <a:t>下载券与SVIP体验券分层发放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1508760"/>
            <a:ext cx="29718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19" y="1508760"/>
            <a:ext cx="73152" cy="1097280"/>
          </a:xfrm>
          <a:prstGeom prst="rect">
            <a:avLst/>
          </a:prstGeom>
          <a:solidFill>
            <a:srgbClr val="00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9" y="1645919"/>
            <a:ext cx="2651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A078"/>
                </a:solidFill>
                <a:latin typeface="PingFang SC"/>
              </a:rPr>
              <a:t>03 收入&amp;成本预估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242D42"/>
                </a:solidFill>
                <a:latin typeface="PingFang SC"/>
              </a:rPr>
              <a:t>广告收入与权益成本测算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3337560"/>
            <a:ext cx="29718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3337560"/>
            <a:ext cx="73152" cy="1097280"/>
          </a:xfrm>
          <a:prstGeom prst="rect">
            <a:avLst/>
          </a:prstGeom>
          <a:solidFill>
            <a:srgbClr val="785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474720"/>
            <a:ext cx="2651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7858DC"/>
                </a:solidFill>
                <a:latin typeface="PingFang SC"/>
              </a:rPr>
              <a:t>04 开发成本与排期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242D42"/>
                </a:solidFill>
                <a:latin typeface="PingFang SC"/>
              </a:rPr>
              <a:t>接入方案、开发成本、时间预估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3337560"/>
            <a:ext cx="29718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0" y="3337560"/>
            <a:ext cx="73152" cy="1097280"/>
          </a:xfrm>
          <a:prstGeom prst="rect">
            <a:avLst/>
          </a:prstGeom>
          <a:solidFill>
            <a:srgbClr val="D63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3474720"/>
            <a:ext cx="2651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D63031"/>
                </a:solidFill>
                <a:latin typeface="PingFang SC"/>
              </a:rPr>
              <a:t>05 结论与建议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242D42"/>
                </a:solidFill>
                <a:latin typeface="PingFang SC"/>
              </a:rPr>
              <a:t>当前权益成本偏高，需要调整策略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PingFang S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42D42"/>
                </a:solidFill>
                <a:latin typeface="PingFang SC"/>
              </a:rPr>
              <a:t>项目目标：用轻互动提升广告收入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667085"/>
                </a:solidFill>
                <a:latin typeface="PingFang SC"/>
              </a:rPr>
              <a:t>入口来自百度网盘「我的」页固定 icon，适合长期在线运营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18288"/>
          </a:xfrm>
          <a:prstGeom prst="rect">
            <a:avLst/>
          </a:prstGeom>
          <a:solidFill>
            <a:srgbClr val="1F6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17320"/>
          <a:ext cx="56692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</a:tblGrid>
              <a:tr h="38404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64D8"/>
                          </a:solidFill>
                          <a:latin typeface="PingFang SC"/>
                        </a:rPr>
                        <a:t>指标</a:t>
                      </a:r>
                    </a:p>
                  </a:txBody>
                  <a:tcPr>
                    <a:solidFill>
                      <a:srgbClr val="E0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64D8"/>
                          </a:solidFill>
                          <a:latin typeface="PingFang SC"/>
                        </a:rPr>
                        <a:t>假设</a:t>
                      </a:r>
                    </a:p>
                  </a:txBody>
                  <a:tcPr>
                    <a:solidFill>
                      <a:srgbClr val="E0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64D8"/>
                          </a:solidFill>
                          <a:latin typeface="PingFang SC"/>
                        </a:rPr>
                        <a:t>说明</a:t>
                      </a:r>
                    </a:p>
                  </a:txBody>
                  <a:tcPr>
                    <a:solidFill>
                      <a:srgbClr val="E0EB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我的页DAU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200万+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入口曝光基础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icon点击率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活动页UV约20万+/日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主动广告触发率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30%–40%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6–8万+/日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活动周期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长期在线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常态化运营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949440" y="1417320"/>
            <a:ext cx="4297680" cy="2011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42D42"/>
                </a:solidFill>
                <a:latin typeface="PingFang SC"/>
              </a:rPr>
              <a:t>• 不考虑会员商城收入，优先核算广告收入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42D42"/>
                </a:solidFill>
                <a:latin typeface="PingFang SC"/>
              </a:rPr>
              <a:t>• 核心用户为非会员，会员用户奖励需差异化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42D42"/>
                </a:solidFill>
                <a:latin typeface="PingFang SC"/>
              </a:rPr>
              <a:t>• 页面结构采用“上玩法、下广告瀑布流”承接模式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77639"/>
            <a:ext cx="3200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977639"/>
            <a:ext cx="73152" cy="1051560"/>
          </a:xfrm>
          <a:prstGeom prst="rect">
            <a:avLst/>
          </a:prstGeom>
          <a:solidFill>
            <a:srgbClr val="1F6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28803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64D8"/>
                </a:solidFill>
                <a:latin typeface="PingFang SC"/>
              </a:rPr>
              <a:t>核心链路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242D42"/>
                </a:solidFill>
                <a:latin typeface="PingFang SC"/>
              </a:rPr>
              <a:t>我的页 icon → 活动页 → 拼图/答题 → 广告加速 → 权益发放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3977639"/>
            <a:ext cx="3200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3977639"/>
            <a:ext cx="73152" cy="1051560"/>
          </a:xfrm>
          <a:prstGeom prst="rect">
            <a:avLst/>
          </a:prstGeom>
          <a:solidFill>
            <a:srgbClr val="FF8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4114800"/>
            <a:ext cx="28803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8B2E"/>
                </a:solidFill>
                <a:latin typeface="PingFang SC"/>
              </a:rPr>
              <a:t>核心指标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242D42"/>
                </a:solidFill>
                <a:latin typeface="PingFang SC"/>
              </a:rPr>
              <a:t>点击率、玩法完成率、广告完成率、eCPM、权益成本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3977639"/>
            <a:ext cx="3200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0" y="3977639"/>
            <a:ext cx="73152" cy="1051560"/>
          </a:xfrm>
          <a:prstGeom prst="rect">
            <a:avLst/>
          </a:prstGeom>
          <a:solidFill>
            <a:srgbClr val="D63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9" y="4114800"/>
            <a:ext cx="28803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D63031"/>
                </a:solidFill>
                <a:latin typeface="PingFang SC"/>
              </a:rPr>
              <a:t>核心风险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242D42"/>
                </a:solidFill>
                <a:latin typeface="PingFang SC"/>
              </a:rPr>
              <a:t>高价值 SVIP 发放比例过高会吞噬广告收益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PingFang S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42D42"/>
                </a:solidFill>
                <a:latin typeface="PingFang SC"/>
              </a:rPr>
              <a:t>玩法推荐：拼图闯关作为主玩法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667085"/>
                </a:solidFill>
                <a:latin typeface="PingFang SC"/>
              </a:rPr>
              <a:t>不做抽奖、不做裂变，用确定性进度驱动广告浏览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18288"/>
          </a:xfrm>
          <a:prstGeom prst="rect">
            <a:avLst/>
          </a:prstGeom>
          <a:solidFill>
            <a:srgbClr val="1F6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325880"/>
          <a:ext cx="6492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3060"/>
                <a:gridCol w="1623060"/>
                <a:gridCol w="1623060"/>
                <a:gridCol w="1623060"/>
              </a:tblGrid>
              <a:tr h="58521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64D8"/>
                          </a:solidFill>
                          <a:latin typeface="PingFang SC"/>
                        </a:rPr>
                        <a:t>玩法</a:t>
                      </a:r>
                    </a:p>
                  </a:txBody>
                  <a:tcPr>
                    <a:solidFill>
                      <a:srgbClr val="E0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64D8"/>
                          </a:solidFill>
                          <a:latin typeface="PingFang SC"/>
                        </a:rPr>
                        <a:t>机制</a:t>
                      </a:r>
                    </a:p>
                  </a:txBody>
                  <a:tcPr>
                    <a:solidFill>
                      <a:srgbClr val="E0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64D8"/>
                          </a:solidFill>
                          <a:latin typeface="PingFang SC"/>
                        </a:rPr>
                        <a:t>价值</a:t>
                      </a:r>
                    </a:p>
                  </a:txBody>
                  <a:tcPr>
                    <a:solidFill>
                      <a:srgbClr val="E0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64D8"/>
                          </a:solidFill>
                          <a:latin typeface="PingFang SC"/>
                        </a:rPr>
                        <a:t>结论</a:t>
                      </a:r>
                    </a:p>
                  </a:txBody>
                  <a:tcPr>
                    <a:solidFill>
                      <a:srgbClr val="E0EB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拼图闯关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任务点亮碎片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反馈明确，适合每日参与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主推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答题挑战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答题获得点亮机会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低开发成本，可结合内容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备选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找方块/找不同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寻找元素完成任务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提升停留和浏览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辅助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广告加速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广告完成后加速点亮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直接提升收入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必要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6" name="Picture 5" descr="gameplay_puzzle_ef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097280"/>
            <a:ext cx="2858032" cy="5120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PingFang S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42D42"/>
                </a:solidFill>
                <a:latin typeface="PingFang SC"/>
              </a:rPr>
              <a:t>玩法效果图：覆盖主玩法与广告加速场景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667085"/>
                </a:solidFill>
                <a:latin typeface="PingFang SC"/>
              </a:rPr>
              <a:t>三类效果图分别对应拼图、答题、广告加速任务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18288"/>
          </a:xfrm>
          <a:prstGeom prst="rect">
            <a:avLst/>
          </a:prstGeom>
          <a:solidFill>
            <a:srgbClr val="1F6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ameplay_puzzle_ef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2755959" cy="4937760"/>
          </a:xfrm>
          <a:prstGeom prst="rect">
            <a:avLst/>
          </a:prstGeom>
        </p:spPr>
      </p:pic>
      <p:pic>
        <p:nvPicPr>
          <p:cNvPr id="6" name="Picture 5" descr="gameplay_quiz_eff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234440"/>
            <a:ext cx="2755959" cy="4937760"/>
          </a:xfrm>
          <a:prstGeom prst="rect">
            <a:avLst/>
          </a:prstGeom>
        </p:spPr>
      </p:pic>
      <p:pic>
        <p:nvPicPr>
          <p:cNvPr id="7" name="Picture 6" descr="gameplay_ad_boost_effe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1234440"/>
            <a:ext cx="2755959" cy="4937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PingFang S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42D42"/>
                </a:solidFill>
                <a:latin typeface="PingFang SC"/>
              </a:rPr>
              <a:t>奖励设计：当前权益成本主要来自SVIP券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667085"/>
                </a:solidFill>
                <a:latin typeface="PingFang SC"/>
              </a:rPr>
              <a:t>低价值下载券适合高频，高价值SVIP券需要控量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18288"/>
          </a:xfrm>
          <a:prstGeom prst="rect">
            <a:avLst/>
          </a:prstGeom>
          <a:solidFill>
            <a:srgbClr val="1F6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34440"/>
          <a:ext cx="67665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3312"/>
                <a:gridCol w="1353312"/>
                <a:gridCol w="1353312"/>
                <a:gridCol w="1353312"/>
                <a:gridCol w="1353312"/>
              </a:tblGrid>
              <a:tr h="4876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64D8"/>
                          </a:solidFill>
                          <a:latin typeface="PingFang SC"/>
                        </a:rPr>
                        <a:t>权益</a:t>
                      </a:r>
                    </a:p>
                  </a:txBody>
                  <a:tcPr>
                    <a:solidFill>
                      <a:srgbClr val="E0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64D8"/>
                          </a:solidFill>
                          <a:latin typeface="PingFang SC"/>
                        </a:rPr>
                        <a:t>发放占比</a:t>
                      </a:r>
                    </a:p>
                  </a:txBody>
                  <a:tcPr>
                    <a:solidFill>
                      <a:srgbClr val="E0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64D8"/>
                          </a:solidFill>
                          <a:latin typeface="PingFang SC"/>
                        </a:rPr>
                        <a:t>日发放量</a:t>
                      </a:r>
                    </a:p>
                  </a:txBody>
                  <a:tcPr>
                    <a:solidFill>
                      <a:srgbClr val="E0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64D8"/>
                          </a:solidFill>
                          <a:latin typeface="PingFang SC"/>
                        </a:rPr>
                        <a:t>单价</a:t>
                      </a:r>
                    </a:p>
                  </a:txBody>
                  <a:tcPr>
                    <a:solidFill>
                      <a:srgbClr val="E0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64D8"/>
                          </a:solidFill>
                          <a:latin typeface="PingFang SC"/>
                        </a:rPr>
                        <a:t>日成本</a:t>
                      </a:r>
                    </a:p>
                  </a:txBody>
                  <a:tcPr>
                    <a:solidFill>
                      <a:srgbClr val="E0EB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24小时SVIP券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2万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10元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20万元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1小时SVIP券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6万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2元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12万元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1分钟下载券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6万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0.2元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1.2万元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5分钟下载券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6万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0.8元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4.8万元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合计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20万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38万元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26679" y="1417320"/>
            <a:ext cx="31089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26679" y="1417320"/>
            <a:ext cx="73152" cy="1097280"/>
          </a:xfrm>
          <a:prstGeom prst="rect">
            <a:avLst/>
          </a:prstGeom>
          <a:solidFill>
            <a:srgbClr val="D63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59" y="1554480"/>
            <a:ext cx="2788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D63031"/>
                </a:solidFill>
                <a:latin typeface="PingFang SC"/>
              </a:rPr>
              <a:t>成本结构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242D42"/>
                </a:solidFill>
                <a:latin typeface="PingFang SC"/>
              </a:rPr>
              <a:t>SVIP类权益日成本约32万元，占总权益成本84%+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2880360"/>
            <a:ext cx="31089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2880360"/>
            <a:ext cx="73152" cy="1097280"/>
          </a:xfrm>
          <a:prstGeom prst="rect">
            <a:avLst/>
          </a:prstGeom>
          <a:solidFill>
            <a:srgbClr val="FF8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59" y="3017520"/>
            <a:ext cx="2788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8B2E"/>
                </a:solidFill>
                <a:latin typeface="PingFang SC"/>
              </a:rPr>
              <a:t>策略建议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242D42"/>
                </a:solidFill>
                <a:latin typeface="PingFang SC"/>
              </a:rPr>
              <a:t>SVIP券应改为周期任务、库存限量或高贡献用户专享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4343400"/>
            <a:ext cx="31089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26679" y="4343400"/>
            <a:ext cx="73152" cy="1097280"/>
          </a:xfrm>
          <a:prstGeom prst="rect">
            <a:avLst/>
          </a:prstGeom>
          <a:solidFill>
            <a:srgbClr val="00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59" y="4480560"/>
            <a:ext cx="2788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A078"/>
                </a:solidFill>
                <a:latin typeface="PingFang SC"/>
              </a:rPr>
              <a:t>可保留项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242D42"/>
                </a:solidFill>
                <a:latin typeface="PingFang SC"/>
              </a:rPr>
              <a:t>下载券成本较低，可作为高频基础奖励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PingFang SC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42D42"/>
                </a:solidFill>
                <a:latin typeface="PingFang SC"/>
              </a:rPr>
              <a:t>收入成本测算：当前发券策略无法覆盖成本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667085"/>
                </a:solidFill>
                <a:latin typeface="PingFang SC"/>
              </a:rPr>
              <a:t>在eCPM=80、完成率=60%的假设下，日净收益为负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18288"/>
          </a:xfrm>
          <a:prstGeom prst="rect">
            <a:avLst/>
          </a:prstGeom>
          <a:solidFill>
            <a:srgbClr val="1F6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234440"/>
          <a:ext cx="61264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2160"/>
                <a:gridCol w="2042160"/>
                <a:gridCol w="2042160"/>
              </a:tblGrid>
              <a:tr h="49638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64D8"/>
                          </a:solidFill>
                          <a:latin typeface="PingFang SC"/>
                        </a:rPr>
                        <a:t>项目</a:t>
                      </a:r>
                    </a:p>
                  </a:txBody>
                  <a:tcPr>
                    <a:solidFill>
                      <a:srgbClr val="E0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64D8"/>
                          </a:solidFill>
                          <a:latin typeface="PingFang SC"/>
                        </a:rPr>
                        <a:t>公式</a:t>
                      </a:r>
                    </a:p>
                  </a:txBody>
                  <a:tcPr>
                    <a:solidFill>
                      <a:srgbClr val="E0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64D8"/>
                          </a:solidFill>
                          <a:latin typeface="PingFang SC"/>
                        </a:rPr>
                        <a:t>结果</a:t>
                      </a:r>
                    </a:p>
                  </a:txBody>
                  <a:tcPr>
                    <a:solidFill>
                      <a:srgbClr val="E0EB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有效广告次数低值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20万 × 5 × 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60万次/日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有效广告次数高值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20万 × 8 × 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96万次/日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广告收入低值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60万 × 80 / 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4.8万元/日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广告收入高值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96万 × 80 / 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7.68万元/日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权益成本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按当前发放比例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38万元/日</a:t>
                      </a:r>
                    </a:p>
                  </a:txBody>
                  <a:tcPr/>
                </a:tc>
              </a:tr>
              <a:tr h="49639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日净收益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广告收入 - 权益成本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-33.2万至-30.32万元/日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60920" y="1325880"/>
            <a:ext cx="3566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60920" y="1325880"/>
            <a:ext cx="73152" cy="1234440"/>
          </a:xfrm>
          <a:prstGeom prst="rect">
            <a:avLst/>
          </a:prstGeom>
          <a:solidFill>
            <a:srgbClr val="D63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0" y="1463039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D63031"/>
                </a:solidFill>
                <a:latin typeface="PingFang SC"/>
              </a:rPr>
              <a:t>关键结论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242D42"/>
                </a:solidFill>
                <a:latin typeface="PingFang SC"/>
              </a:rPr>
              <a:t>当前发券比例下，权益成本约为广告收入的5–8倍。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2880360"/>
            <a:ext cx="3566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60920" y="2880360"/>
            <a:ext cx="73152" cy="1234440"/>
          </a:xfrm>
          <a:prstGeom prst="rect">
            <a:avLst/>
          </a:prstGeom>
          <a:solidFill>
            <a:srgbClr val="FF8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3017520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8B2E"/>
                </a:solidFill>
                <a:latin typeface="PingFang SC"/>
              </a:rPr>
              <a:t>主要原因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242D42"/>
                </a:solidFill>
                <a:latin typeface="PingFang SC"/>
              </a:rPr>
              <a:t>24小时与1小时SVIP券发放比例过高，单价高且覆盖用户多。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4434840"/>
            <a:ext cx="3566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60920" y="4434840"/>
            <a:ext cx="73152" cy="1234440"/>
          </a:xfrm>
          <a:prstGeom prst="rect">
            <a:avLst/>
          </a:prstGeom>
          <a:solidFill>
            <a:srgbClr val="00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43800" y="4572000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A078"/>
                </a:solidFill>
                <a:latin typeface="PingFang SC"/>
              </a:rPr>
              <a:t>优化方向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242D42"/>
                </a:solidFill>
                <a:latin typeface="PingFang SC"/>
              </a:rPr>
              <a:t>降低SVIP覆盖率，提高广告贡献门槛，优先发低成本下载券。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PingFang SC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42D42"/>
                </a:solidFill>
                <a:latin typeface="PingFang SC"/>
              </a:rPr>
              <a:t>广告接入：商城频道瀑布流 + 激励任务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667085"/>
                </a:solidFill>
                <a:latin typeface="PingFang SC"/>
              </a:rPr>
              <a:t>穿山甲商城页适合放在玩法下方，承接用户下滑浏览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18288"/>
          </a:xfrm>
          <a:prstGeom prst="rect">
            <a:avLst/>
          </a:prstGeom>
          <a:solidFill>
            <a:srgbClr val="1F6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502920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42D42"/>
                </a:solidFill>
                <a:latin typeface="PingFang SC"/>
              </a:rPr>
              <a:t>• 推荐形态：商城频道信息流/瀑布流，作为页面下半屏核心收入区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42D42"/>
                </a:solidFill>
                <a:latin typeface="PingFang SC"/>
              </a:rPr>
              <a:t>• 主动广告：激励任务/激励视频，用于“看广告加速点亮拼图”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42D42"/>
                </a:solidFill>
                <a:latin typeface="PingFang SC"/>
              </a:rPr>
              <a:t>• SDK要求：穿山甲 SDK 6500+；iOS示例要求6405+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42D42"/>
                </a:solidFill>
                <a:latin typeface="PingFang SC"/>
              </a:rPr>
              <a:t>• 广告位：商城频道申请信息流广告位，自渲染；奖励场景申请激励视频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42D42"/>
                </a:solidFill>
                <a:latin typeface="PingFang SC"/>
              </a:rPr>
              <a:t>• 回调限制：商城页当前只有曝光回调，没有点击回调，不能依赖点击口径</a:t>
            </a:r>
          </a:p>
        </p:txBody>
      </p:sp>
      <p:pic>
        <p:nvPicPr>
          <p:cNvPr id="6" name="Picture 5" descr="reference_structure_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0"/>
            <a:ext cx="2960104" cy="5303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PingFang SC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42D42"/>
                </a:solidFill>
                <a:latin typeface="PingFang SC"/>
              </a:rPr>
              <a:t>开发成本：MVP建议按3–4周推进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667085"/>
                </a:solidFill>
                <a:latin typeface="PingFang SC"/>
              </a:rPr>
              <a:t>先验证广告收入与权益成本，再扩展完整运营能力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18288"/>
          </a:xfrm>
          <a:prstGeom prst="rect">
            <a:avLst/>
          </a:prstGeom>
          <a:solidFill>
            <a:srgbClr val="1F6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4300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0005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64D8"/>
                          </a:solidFill>
                          <a:latin typeface="PingFang SC"/>
                        </a:rPr>
                        <a:t>模块</a:t>
                      </a:r>
                    </a:p>
                  </a:txBody>
                  <a:tcPr>
                    <a:solidFill>
                      <a:srgbClr val="E0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64D8"/>
                          </a:solidFill>
                          <a:latin typeface="PingFang SC"/>
                        </a:rPr>
                        <a:t>MVP预估</a:t>
                      </a:r>
                    </a:p>
                  </a:txBody>
                  <a:tcPr>
                    <a:solidFill>
                      <a:srgbClr val="E0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64D8"/>
                          </a:solidFill>
                          <a:latin typeface="PingFang SC"/>
                        </a:rPr>
                        <a:t>完整版本预估</a:t>
                      </a:r>
                    </a:p>
                  </a:txBody>
                  <a:tcPr>
                    <a:solidFill>
                      <a:srgbClr val="E0EB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需求评审与方案细化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2–3人日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3–5人日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页面前端开发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6–8人日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10–14人日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拼图/答题玩法开发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4–6人日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8–12人日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奖励系统接入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4–6人日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8–12人日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穿山甲广告接入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6–8人日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10–15人日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服务端接口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5–7人日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10–14人日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测试联调与上线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7–10人日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12–18人日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2960" y="4754880"/>
            <a:ext cx="47548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4754880"/>
            <a:ext cx="73152" cy="914400"/>
          </a:xfrm>
          <a:prstGeom prst="rect">
            <a:avLst/>
          </a:prstGeom>
          <a:solidFill>
            <a:srgbClr val="1F6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892040"/>
            <a:ext cx="4434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64D8"/>
                </a:solidFill>
                <a:latin typeface="PingFang SC"/>
              </a:rPr>
              <a:t>MVP版本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242D42"/>
                </a:solidFill>
                <a:latin typeface="PingFang SC"/>
              </a:rPr>
              <a:t>约36–51人日，自然周期约3–4周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4754880"/>
            <a:ext cx="47548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92240" y="4754880"/>
            <a:ext cx="73152" cy="914400"/>
          </a:xfrm>
          <a:prstGeom prst="rect">
            <a:avLst/>
          </a:prstGeom>
          <a:solidFill>
            <a:srgbClr val="FF8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4892040"/>
            <a:ext cx="4434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8B2E"/>
                </a:solidFill>
                <a:latin typeface="PingFang SC"/>
              </a:rPr>
              <a:t>完整运营版本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242D42"/>
                </a:solidFill>
                <a:latin typeface="PingFang SC"/>
              </a:rPr>
              <a:t>约66–98人日，自然周期约5–7周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PingFang SC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42D42"/>
                </a:solidFill>
                <a:latin typeface="PingFang SC"/>
              </a:rPr>
              <a:t>建议排期：第4周完成MVP灰度上线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667085"/>
                </a:solidFill>
                <a:latin typeface="PingFang SC"/>
              </a:rPr>
              <a:t>广告位申请、玩法开发、奖励发放和联调需并行推进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18288"/>
          </a:xfrm>
          <a:prstGeom prst="rect">
            <a:avLst/>
          </a:prstGeom>
          <a:solidFill>
            <a:srgbClr val="1F6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92024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C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73152" cy="3108960"/>
          </a:xfrm>
          <a:prstGeom prst="rect">
            <a:avLst/>
          </a:prstGeom>
          <a:solidFill>
            <a:srgbClr val="1F6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19"/>
            <a:ext cx="160020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64D8"/>
                </a:solidFill>
                <a:latin typeface="PingFang SC"/>
              </a:rPr>
              <a:t>第1周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242D42"/>
                </a:solidFill>
                <a:latin typeface="PingFang SC"/>
              </a:rPr>
              <a:t>需求冻结、视觉定稿、技术方案、广告位申请
产出：PRD/交互稿/视觉稿/技术方案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1508760"/>
            <a:ext cx="192024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C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71800" y="1508760"/>
            <a:ext cx="73152" cy="3108960"/>
          </a:xfrm>
          <a:prstGeom prst="rect">
            <a:avLst/>
          </a:prstGeom>
          <a:solidFill>
            <a:srgbClr val="FF8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54680" y="1645919"/>
            <a:ext cx="160020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8B2E"/>
                </a:solidFill>
                <a:latin typeface="PingFang SC"/>
              </a:rPr>
              <a:t>第2周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242D42"/>
                </a:solidFill>
                <a:latin typeface="PingFang SC"/>
              </a:rPr>
              <a:t>页面开发、拼图玩法、服务端任务进度
产出：可交互活动页与基础任务链路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80" y="1508760"/>
            <a:ext cx="192024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C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12080" y="1508760"/>
            <a:ext cx="73152" cy="3108960"/>
          </a:xfrm>
          <a:prstGeom prst="rect">
            <a:avLst/>
          </a:prstGeom>
          <a:solidFill>
            <a:srgbClr val="00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0" y="1645919"/>
            <a:ext cx="160020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A078"/>
                </a:solidFill>
                <a:latin typeface="PingFang SC"/>
              </a:rPr>
              <a:t>第3周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242D42"/>
                </a:solidFill>
                <a:latin typeface="PingFang SC"/>
              </a:rPr>
              <a:t>奖励发放、穿山甲接入、埋点开发
产出：广告与权益闭环链路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1508760"/>
            <a:ext cx="192024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C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1508760"/>
            <a:ext cx="73152" cy="3108960"/>
          </a:xfrm>
          <a:prstGeom prst="rect">
            <a:avLst/>
          </a:prstGeom>
          <a:solidFill>
            <a:srgbClr val="785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1645919"/>
            <a:ext cx="160020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7858DC"/>
                </a:solidFill>
                <a:latin typeface="PingFang SC"/>
              </a:rPr>
              <a:t>第4周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242D42"/>
                </a:solidFill>
                <a:latin typeface="PingFang SC"/>
              </a:rPr>
              <a:t>联调测试、灰度上线、监控修复
产出：MVP灰度上线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1508760"/>
            <a:ext cx="192024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C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692640" y="1508760"/>
            <a:ext cx="73152" cy="3108960"/>
          </a:xfrm>
          <a:prstGeom prst="rect">
            <a:avLst/>
          </a:prstGeom>
          <a:solidFill>
            <a:srgbClr val="667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0" y="1645919"/>
            <a:ext cx="160020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667085"/>
                </a:solidFill>
                <a:latin typeface="PingFang SC"/>
              </a:rPr>
              <a:t>第5周后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242D42"/>
                </a:solidFill>
                <a:latin typeface="PingFang SC"/>
              </a:rPr>
              <a:t>运营后台、A/B、会员差异化、风控增强
产出：长期运营能力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PingFang S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42D42"/>
                </a:solidFill>
                <a:latin typeface="PingFang SC"/>
              </a:rPr>
              <a:t>风格参考：建议优先评估营销游戏风与电商导购风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667085"/>
                </a:solidFill>
                <a:latin typeface="PingFang SC"/>
              </a:rPr>
              <a:t>品牌风适合稳态，游戏/导购风更适合拉升广告触发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18288"/>
          </a:xfrm>
          <a:prstGeom prst="rect">
            <a:avLst/>
          </a:prstGeom>
          <a:solidFill>
            <a:srgbClr val="1F6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eference_structure_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70432"/>
            <a:ext cx="2781477" cy="4983480"/>
          </a:xfrm>
          <a:prstGeom prst="rect">
            <a:avLst/>
          </a:prstGeom>
        </p:spPr>
      </p:pic>
      <p:pic>
        <p:nvPicPr>
          <p:cNvPr id="6" name="Picture 5" descr="reference_structure_g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170432"/>
            <a:ext cx="2781477" cy="4983480"/>
          </a:xfrm>
          <a:prstGeom prst="rect">
            <a:avLst/>
          </a:prstGeom>
        </p:spPr>
      </p:pic>
      <p:pic>
        <p:nvPicPr>
          <p:cNvPr id="7" name="Picture 6" descr="reference_structure_m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1170432"/>
            <a:ext cx="2781477" cy="4983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PingFang S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42D42"/>
                </a:solidFill>
                <a:latin typeface="PingFang SC"/>
              </a:rPr>
              <a:t>结论：先降权益成本，再验证广告收入模型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667085"/>
                </a:solidFill>
                <a:latin typeface="PingFang SC"/>
              </a:rPr>
              <a:t>当前方案具备流量基础，但需优化奖励发放策略后再规模化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18288"/>
          </a:xfrm>
          <a:prstGeom prst="rect">
            <a:avLst/>
          </a:prstGeom>
          <a:solidFill>
            <a:srgbClr val="1F6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3291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325880"/>
            <a:ext cx="73152" cy="1143000"/>
          </a:xfrm>
          <a:prstGeom prst="rect">
            <a:avLst/>
          </a:prstGeom>
          <a:solidFill>
            <a:srgbClr val="1F6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63039"/>
            <a:ext cx="2971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64D8"/>
                </a:solidFill>
                <a:latin typeface="PingFang SC"/>
              </a:rPr>
              <a:t>可推进方向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242D42"/>
                </a:solidFill>
                <a:latin typeface="PingFang SC"/>
              </a:rPr>
              <a:t>MVP采用拼图闯关 + 广告加速 + 商城瀑布流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325880"/>
            <a:ext cx="3291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1325880"/>
            <a:ext cx="73152" cy="1143000"/>
          </a:xfrm>
          <a:prstGeom prst="rect">
            <a:avLst/>
          </a:prstGeom>
          <a:solidFill>
            <a:srgbClr val="D63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463039"/>
            <a:ext cx="2971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D63031"/>
                </a:solidFill>
                <a:latin typeface="PingFang SC"/>
              </a:rPr>
              <a:t>核心约束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242D42"/>
                </a:solidFill>
                <a:latin typeface="PingFang SC"/>
              </a:rPr>
              <a:t>当前权益成本38万元/日，高于广告收入4.8–7.68万元/日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25880"/>
            <a:ext cx="3291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0" y="1325880"/>
            <a:ext cx="73152" cy="1143000"/>
          </a:xfrm>
          <a:prstGeom prst="rect">
            <a:avLst/>
          </a:prstGeom>
          <a:solidFill>
            <a:srgbClr val="FF8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463039"/>
            <a:ext cx="2971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8B2E"/>
                </a:solidFill>
                <a:latin typeface="PingFang SC"/>
              </a:rPr>
              <a:t>关键动作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242D42"/>
                </a:solidFill>
                <a:latin typeface="PingFang SC"/>
              </a:rPr>
              <a:t>降低SVIP券比例，改为库存限量和高贡献用户专享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063240"/>
            <a:ext cx="10241280" cy="2011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42D42"/>
                </a:solidFill>
                <a:latin typeface="PingFang SC"/>
              </a:rPr>
              <a:t>• 建议先做4周MVP，验证活动页UV、广告完成率、eCPM和真实权益领取成本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42D42"/>
                </a:solidFill>
                <a:latin typeface="PingFang SC"/>
              </a:rPr>
              <a:t>• 优先保留低成本下载券作为基础奖励，SVIP券作为阶段/周期/高贡献奖励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42D42"/>
                </a:solidFill>
                <a:latin typeface="PingFang SC"/>
              </a:rPr>
              <a:t>• 上线后通过A/B测试比较品牌风、营销游戏风、电商导购风的广告触发率和ARPU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PingFang S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42D42"/>
                </a:solidFill>
                <a:latin typeface="PingFang SC"/>
              </a:rPr>
              <a:t>补充玩法效果图：找方块/找不同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667085"/>
                </a:solidFill>
                <a:latin typeface="PingFang SC"/>
              </a:rPr>
              <a:t>用于完善玩法选型页，展示辅助玩法如何提升停留与下滑浏览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18288"/>
          </a:xfrm>
          <a:prstGeom prst="rect">
            <a:avLst/>
          </a:prstGeom>
          <a:solidFill>
            <a:srgbClr val="1F6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ameplay_find_blocks_ef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34440"/>
            <a:ext cx="2730441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0" y="1417320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242D42"/>
                </a:solidFill>
                <a:latin typeface="PingFang SC"/>
              </a:rPr>
              <a:t>• 玩法机制：用户在场景图或广告商品流中寻找隐藏权益方块。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42D42"/>
                </a:solidFill>
                <a:latin typeface="PingFang SC"/>
              </a:rPr>
              <a:t>• 用户收益：找到方块后获得点亮机会、下载券或加速权益进度。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42D42"/>
                </a:solidFill>
                <a:latin typeface="PingFang SC"/>
              </a:rPr>
              <a:t>• 商业化价值：引导用户停留、观察商品卡片，并自然下滑浏览广告。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42D42"/>
                </a:solidFill>
                <a:latin typeface="PingFang SC"/>
              </a:rPr>
              <a:t>• 适用定位：作为拼图主玩法的辅助玩法，不建议单独作为主玩法。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PingFang SC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